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Manrope Light"/>
      <p:regular r:id="rId20"/>
      <p:bold r:id="rId21"/>
    </p:embeddedFont>
    <p:embeddedFont>
      <p:font typeface="Anton"/>
      <p:regular r:id="rId22"/>
    </p:embeddedFont>
    <p:embeddedFont>
      <p:font typeface="Manrope SemiBold"/>
      <p:regular r:id="rId23"/>
      <p:bold r:id="rId24"/>
    </p:embeddedFont>
    <p:embeddedFont>
      <p:font typeface="Manrope"/>
      <p:regular r:id="rId25"/>
      <p:bold r:id="rId26"/>
    </p:embeddedFont>
    <p:embeddedFont>
      <p:font typeface="Manrope ExtraBold"/>
      <p:bold r:id="rId27"/>
    </p:embeddedFont>
    <p:embeddedFont>
      <p:font typeface="Manrope Medium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6C2F9D-9DF6-4D49-AF99-695BBA945485}">
  <a:tblStyle styleId="{956C2F9D-9DF6-4D49-AF99-695BBA94548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Light-regular.fntdata"/><Relationship Id="rId22" Type="http://schemas.openxmlformats.org/officeDocument/2006/relationships/font" Target="fonts/Anton-regular.fntdata"/><Relationship Id="rId21" Type="http://schemas.openxmlformats.org/officeDocument/2006/relationships/font" Target="fonts/ManropeLight-bold.fntdata"/><Relationship Id="rId24" Type="http://schemas.openxmlformats.org/officeDocument/2006/relationships/font" Target="fonts/ManropeSemiBold-bold.fntdata"/><Relationship Id="rId23" Type="http://schemas.openxmlformats.org/officeDocument/2006/relationships/font" Target="fonts/Manrope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anrope-bold.fntdata"/><Relationship Id="rId25" Type="http://schemas.openxmlformats.org/officeDocument/2006/relationships/font" Target="fonts/Manrope-regular.fntdata"/><Relationship Id="rId28" Type="http://schemas.openxmlformats.org/officeDocument/2006/relationships/font" Target="fonts/ManropeMedium-regular.fntdata"/><Relationship Id="rId27" Type="http://schemas.openxmlformats.org/officeDocument/2006/relationships/font" Target="fonts/ManropeExtra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anrope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8" name="Google Shape;101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6" name="Google Shape;10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3" name="Google Shape;10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3" name="Google Shape;10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1" name="Google Shape;10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4" name="Google Shape;10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2" name="Google Shape;10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e05db0d77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9" name="Google Shape;1089;g3e05db0d77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e6091474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7" name="Google Shape;1097;g3e6091474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TikTok has the highest engagement.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Short-form content performs best across platforms.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YouTube and Instagram show steady engagement.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Twitter has lower engagement.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0" name="Google Shape;111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e05db0d77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6" name="Google Shape;1116;g3e05db0d77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3" name="Google Shape;112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" name="Google Shape;18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" name="Google Shape;19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" name="Google Shape;23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" name="Google Shape;24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" name="Google Shape;26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" name="Google Shape;27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" name="Google Shape;28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3" name="Google Shape;33;p2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4" name="Google Shape;34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" name="Google Shape;44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" name="Google Shape;45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" name="Google Shape;50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" name="Google Shape;51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" name="Google Shape;52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" name="Google Shape;53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" name="Google Shape;54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" name="Google Shape;55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" name="Google Shape;56;p2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7" name="Google Shape;57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" name="Google Shape;78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" name="Google Shape;79;p2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80" name="Google Shape;80;p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2" name="Google Shape;102;p2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05" name="Google Shape;105;p2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6" name="Google Shape;106;p2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09" name="Google Shape;109;p3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10" name="Google Shape;110;p3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" name="Google Shape;111;p3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3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" name="Google Shape;113;p3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3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3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3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3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3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19" name="Google Shape;119;p3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3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3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3" name="Google Shape;123;p3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4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126" name="Google Shape;126;p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27" name="Google Shape;127;p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" name="Google Shape;132;p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3" name="Google Shape;133;p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" name="Google Shape;134;p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" name="Google Shape;135;p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p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7" name="Google Shape;137;p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p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" name="Google Shape;144;p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" name="Google Shape;147;p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49" name="Google Shape;149;p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50" name="Google Shape;150;p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1" name="Google Shape;151;p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2" name="Google Shape;152;p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3" name="Google Shape;153;p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4" name="Google Shape;154;p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5" name="Google Shape;155;p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6" name="Google Shape;156;p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7" name="Google Shape;157;p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8" name="Google Shape;158;p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0" name="Google Shape;160;p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" name="Google Shape;162;p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3" name="Google Shape;163;p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" name="Google Shape;165;p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p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" name="Google Shape;168;p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" name="Google Shape;169;p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0" name="Google Shape;170;p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1" name="Google Shape;171;p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72" name="Google Shape;172;p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173" name="Google Shape;173;p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4" name="Google Shape;174;p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1" name="Google Shape;181;p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7" name="Google Shape;187;p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8" name="Google Shape;188;p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9" name="Google Shape;189;p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0" name="Google Shape;190;p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1" name="Google Shape;191;p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2" name="Google Shape;192;p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3" name="Google Shape;193;p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4" name="Google Shape;194;p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95" name="Google Shape;195;p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96" name="Google Shape;196;p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7" name="Google Shape;197;p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8" name="Google Shape;198;p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9" name="Google Shape;199;p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0" name="Google Shape;200;p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1" name="Google Shape;201;p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2" name="Google Shape;202;p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3" name="Google Shape;203;p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4" name="Google Shape;204;p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5" name="Google Shape;205;p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6" name="Google Shape;206;p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7" name="Google Shape;207;p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8" name="Google Shape;208;p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9" name="Google Shape;209;p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0" name="Google Shape;210;p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1" name="Google Shape;211;p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2" name="Google Shape;212;p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3" name="Google Shape;213;p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4" name="Google Shape;214;p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5" name="Google Shape;215;p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6" name="Google Shape;216;p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7" name="Google Shape;217;p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18" name="Google Shape;218;p4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19" name="Google Shape;219;p4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4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21" name="Google Shape;221;p4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224" name="Google Shape;224;p5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5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5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5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5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5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5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5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5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5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5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5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36" name="Google Shape;236;p5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1828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6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40" name="Google Shape;240;p6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6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6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6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6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6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6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7" name="Google Shape;247;p6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6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49" name="Google Shape;249;p6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0" name="Google Shape;250;p6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251" name="Google Shape;251;p6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52" name="Google Shape;252;p6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3" name="Google Shape;253;p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4" name="Google Shape;254;p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5" name="Google Shape;255;p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56" name="Google Shape;256;p6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7" name="Google Shape;257;p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8" name="Google Shape;258;p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9" name="Google Shape;259;p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0" name="Google Shape;260;p6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61" name="Google Shape;261;p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2" name="Google Shape;262;p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3" name="Google Shape;263;p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64" name="Google Shape;264;p6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65" name="Google Shape;265;p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66" name="Google Shape;266;p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67" name="Google Shape;267;p6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68" name="Google Shape;268;p6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6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6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6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72" name="Google Shape;272;p6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73" name="Google Shape;273;p6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274" name="Google Shape;274;p6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75" name="Google Shape;275;p6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76" name="Google Shape;276;p6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77" name="Google Shape;277;p6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0" name="Google Shape;280;p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1" name="Google Shape;281;p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4" name="Google Shape;284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5" name="Google Shape;285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10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89" name="Google Shape;289;p10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" name="Google Shape;290;p10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10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p10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3" name="Google Shape;293;p10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4" name="Google Shape;294;p10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5" name="Google Shape;295;p10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6" name="Google Shape;296;p10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7" name="Google Shape;297;p10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8" name="Google Shape;298;p10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10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00" name="Google Shape;300;p10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01" name="Google Shape;301;p10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02" name="Google Shape;302;p10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03" name="Google Shape;303;p10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04" name="Google Shape;304;p10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05" name="Google Shape;305;p10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06" name="Google Shape;306;p10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07" name="Google Shape;307;p10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08" name="Google Shape;308;p10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09" name="Google Shape;309;p10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10" name="Google Shape;310;p10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11" name="Google Shape;311;p10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15" name="Google Shape;315;p11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316" name="Google Shape;316;p11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17" name="Google Shape;317;p11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0" name="Google Shape;320;p12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12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2" name="Google Shape;322;p12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5" name="Google Shape;325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0" name="Google Shape;330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14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333" name="Google Shape;333;p14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4" name="Google Shape;334;p14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5" name="Google Shape;335;p14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6" name="Google Shape;336;p14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7" name="Google Shape;337;p14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8" name="Google Shape;338;p14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9" name="Google Shape;339;p14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0" name="Google Shape;340;p14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1" name="Google Shape;341;p14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42" name="Google Shape;342;p14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3" name="Google Shape;343;p14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344" name="Google Shape;344;p14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345" name="Google Shape;345;p14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346" name="Google Shape;346;p1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47" name="Google Shape;347;p1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48" name="Google Shape;348;p1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49" name="Google Shape;349;p14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350" name="Google Shape;350;p1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51" name="Google Shape;351;p1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52" name="Google Shape;352;p1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53" name="Google Shape;353;p14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354" name="Google Shape;354;p1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55" name="Google Shape;355;p1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56" name="Google Shape;356;p1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57" name="Google Shape;357;p14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358" name="Google Shape;358;p1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59" name="Google Shape;359;p1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360" name="Google Shape;360;p14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361" name="Google Shape;361;p14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362" name="Google Shape;362;p14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63" name="Google Shape;363;p14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64" name="Google Shape;364;p14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65" name="Google Shape;365;p14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366" name="Google Shape;366;p14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367" name="Google Shape;367;p14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368" name="Google Shape;368;p14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69" name="Google Shape;369;p14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70" name="Google Shape;370;p14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3" name="Google Shape;373;p15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74" name="Google Shape;374;p15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5" name="Google Shape;375;p15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76" name="Google Shape;376;p15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77" name="Google Shape;377;p15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81" name="Google Shape;381;p15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15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15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15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16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387" name="Google Shape;387;p16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8" name="Google Shape;388;p16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9" name="Google Shape;389;p16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0" name="Google Shape;390;p16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1" name="Google Shape;391;p16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2" name="Google Shape;392;p16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3" name="Google Shape;393;p16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4" name="Google Shape;394;p16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5" name="Google Shape;395;p16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96" name="Google Shape;396;p16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7" name="Google Shape;397;p16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398" name="Google Shape;398;p16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399" name="Google Shape;399;p16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400" name="Google Shape;400;p1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01" name="Google Shape;401;p1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02" name="Google Shape;402;p1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03" name="Google Shape;403;p16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404" name="Google Shape;404;p1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05" name="Google Shape;405;p1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06" name="Google Shape;406;p1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07" name="Google Shape;407;p16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408" name="Google Shape;408;p1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09" name="Google Shape;409;p1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0" name="Google Shape;410;p1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11" name="Google Shape;411;p16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412" name="Google Shape;412;p1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13" name="Google Shape;413;p1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414" name="Google Shape;414;p16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415" name="Google Shape;415;p16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416" name="Google Shape;416;p16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417" name="Google Shape;417;p16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418" name="Google Shape;418;p16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16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16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16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16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16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6" name="Google Shape;426;p17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17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28" name="Google Shape;428;p17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29" name="Google Shape;429;p17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30" name="Google Shape;430;p17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8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3" name="Google Shape;433;p18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18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5" name="Google Shape;435;p18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36" name="Google Shape;436;p18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9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39" name="Google Shape;439;p19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19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1" name="Google Shape;441;p19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42" name="Google Shape;442;p19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43" name="Google Shape;443;p19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20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446" name="Google Shape;446;p20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7" name="Google Shape;447;p20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20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9" name="Google Shape;449;p20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20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1" name="Google Shape;451;p20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2" name="Google Shape;452;p20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3" name="Google Shape;453;p20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4" name="Google Shape;454;p20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455" name="Google Shape;455;p20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56" name="Google Shape;456;p20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457" name="Google Shape;457;p20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458" name="Google Shape;458;p20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459" name="Google Shape;459;p2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0" name="Google Shape;460;p2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1" name="Google Shape;461;p2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2" name="Google Shape;462;p20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463" name="Google Shape;463;p2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4" name="Google Shape;464;p2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5" name="Google Shape;465;p2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6" name="Google Shape;466;p20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467" name="Google Shape;467;p2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8" name="Google Shape;468;p2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9" name="Google Shape;469;p2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0" name="Google Shape;470;p20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471" name="Google Shape;471;p2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2" name="Google Shape;472;p2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473" name="Google Shape;473;p20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474" name="Google Shape;474;p20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20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1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478" name="Google Shape;478;p21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479" name="Google Shape;479;p21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480" name="Google Shape;480;p21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1" name="Google Shape;481;p21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82" name="Google Shape;482;p21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83" name="Google Shape;483;p21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84" name="Google Shape;484;p21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21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86" name="Google Shape;486;p21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87" name="Google Shape;487;p21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488" name="Google Shape;488;p21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2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1" name="Google Shape;491;p22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" sz="7200" u="none" cap="none" strike="noStrike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b="0" i="1" sz="7200" u="none" cap="none" strike="noStrike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92" name="Google Shape;492;p22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3" name="Google Shape;493;p22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494" name="Google Shape;494;p22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498" name="Google Shape;498;p22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22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22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502;p23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503" name="Google Shape;503;p23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4" name="Google Shape;504;p23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5" name="Google Shape;505;p23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6" name="Google Shape;506;p23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7" name="Google Shape;507;p23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8" name="Google Shape;508;p23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9" name="Google Shape;509;p23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0" name="Google Shape;510;p23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1" name="Google Shape;511;p23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2" name="Google Shape;512;p23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3" name="Google Shape;513;p23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14" name="Google Shape;514;p23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515" name="Google Shape;515;p23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516" name="Google Shape;516;p23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517" name="Google Shape;517;p23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18" name="Google Shape;518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20" name="Google Shape;520;p23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21" name="Google Shape;521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2" name="Google Shape;522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23" name="Google Shape;523;p23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26" name="Google Shape;526;p23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527" name="Google Shape;527;p23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28" name="Google Shape;528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9" name="Google Shape;529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30" name="Google Shape;530;p23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31" name="Google Shape;531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33" name="Google Shape;533;p23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34" name="Google Shape;534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35" name="Google Shape;535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36" name="Google Shape;536;p23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537" name="Google Shape;537;p23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38" name="Google Shape;538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40" name="Google Shape;540;p23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41" name="Google Shape;541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42" name="Google Shape;542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43" name="Google Shape;543;p23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44" name="Google Shape;544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46" name="Google Shape;546;p23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547" name="Google Shape;547;p23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48" name="Google Shape;548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49" name="Google Shape;549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50" name="Google Shape;550;p23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51" name="Google Shape;551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52" name="Google Shape;552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553" name="Google Shape;553;p23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554" name="Google Shape;554;p23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555" name="Google Shape;555;p23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556" name="Google Shape;556;p23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57" name="Google Shape;557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58" name="Google Shape;558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59" name="Google Shape;559;p23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60" name="Google Shape;560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61" name="Google Shape;561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62" name="Google Shape;562;p23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63" name="Google Shape;563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64" name="Google Shape;564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65" name="Google Shape;565;p23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566" name="Google Shape;566;p23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67" name="Google Shape;567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68" name="Google Shape;568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69" name="Google Shape;569;p23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70" name="Google Shape;570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71" name="Google Shape;571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72" name="Google Shape;572;p23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73" name="Google Shape;573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74" name="Google Shape;574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75" name="Google Shape;575;p23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576" name="Google Shape;576;p23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77" name="Google Shape;577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78" name="Google Shape;578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79" name="Google Shape;579;p23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80" name="Google Shape;580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81" name="Google Shape;581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82" name="Google Shape;582;p23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83" name="Google Shape;583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84" name="Google Shape;584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85" name="Google Shape;585;p23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586" name="Google Shape;586;p23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87" name="Google Shape;587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88" name="Google Shape;588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89" name="Google Shape;589;p23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90" name="Google Shape;590;p23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91" name="Google Shape;591;p23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592" name="Google Shape;592;p23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93" name="Google Shape;593;p23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oogle Shape;595;p24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596" name="Google Shape;596;p2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597" name="Google Shape;597;p2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8" name="Google Shape;598;p2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9" name="Google Shape;599;p2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0" name="Google Shape;600;p2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1" name="Google Shape;601;p2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2" name="Google Shape;602;p2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3" name="Google Shape;603;p2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4" name="Google Shape;604;p2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5" name="Google Shape;605;p2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6" name="Google Shape;606;p2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7" name="Google Shape;607;p2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8" name="Google Shape;608;p2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9" name="Google Shape;609;p2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0" name="Google Shape;610;p2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1" name="Google Shape;611;p2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2" name="Google Shape;612;p2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3" name="Google Shape;613;p2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4" name="Google Shape;614;p2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5" name="Google Shape;615;p2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6" name="Google Shape;616;p2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7" name="Google Shape;617;p2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8" name="Google Shape;618;p2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19" name="Google Shape;619;p2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620" name="Google Shape;620;p2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1" name="Google Shape;621;p2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2" name="Google Shape;622;p2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3" name="Google Shape;623;p2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4" name="Google Shape;624;p2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5" name="Google Shape;625;p2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6" name="Google Shape;626;p2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7" name="Google Shape;627;p2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8" name="Google Shape;628;p2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9" name="Google Shape;629;p2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0" name="Google Shape;630;p2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1" name="Google Shape;631;p2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2" name="Google Shape;632;p2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3" name="Google Shape;633;p2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4" name="Google Shape;634;p2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5" name="Google Shape;635;p2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6" name="Google Shape;636;p2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7" name="Google Shape;637;p2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8" name="Google Shape;638;p2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9" name="Google Shape;639;p2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0" name="Google Shape;640;p2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1" name="Google Shape;641;p2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42" name="Google Shape;642;p2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643" name="Google Shape;643;p2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4" name="Google Shape;644;p2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9" name="Google Shape;649;p2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0" name="Google Shape;650;p2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1" name="Google Shape;651;p2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2" name="Google Shape;652;p2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3" name="Google Shape;653;p2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4" name="Google Shape;654;p2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5" name="Google Shape;655;p2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6" name="Google Shape;656;p2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7" name="Google Shape;657;p2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8" name="Google Shape;658;p2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9" name="Google Shape;659;p2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0" name="Google Shape;660;p2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1" name="Google Shape;661;p2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2" name="Google Shape;662;p2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3" name="Google Shape;663;p2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4" name="Google Shape;664;p2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65" name="Google Shape;665;p2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666" name="Google Shape;666;p2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7" name="Google Shape;667;p2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8" name="Google Shape;668;p2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9" name="Google Shape;669;p2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0" name="Google Shape;670;p2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1" name="Google Shape;671;p2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2" name="Google Shape;672;p2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3" name="Google Shape;673;p2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4" name="Google Shape;674;p2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5" name="Google Shape;675;p2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6" name="Google Shape;676;p2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7" name="Google Shape;677;p2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8" name="Google Shape;678;p2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9" name="Google Shape;679;p2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0" name="Google Shape;680;p2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1" name="Google Shape;681;p2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2" name="Google Shape;682;p2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3" name="Google Shape;683;p2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4" name="Google Shape;684;p2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5" name="Google Shape;685;p2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6" name="Google Shape;686;p2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7" name="Google Shape;687;p2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688" name="Google Shape;688;p24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89" name="Google Shape;689;p24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0" name="Google Shape;690;p24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1" name="Google Shape;691;p24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92" name="Google Shape;692;p24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3" name="Google Shape;693;p24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4" name="Google Shape;694;p24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95" name="Google Shape;695;p24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6" name="Google Shape;696;p24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24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8" name="Google Shape;698;p24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" name="Google Shape;699;p24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0" name="Google Shape;700;p24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1" name="Google Shape;701;p24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2" name="Google Shape;702;p24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5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5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06" name="Google Shape;706;p25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707" name="Google Shape;707;p25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708" name="Google Shape;708;p25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709" name="Google Shape;709;p25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710" name="Google Shape;710;p25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1" name="Google Shape;711;p25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12" name="Google Shape;712;p25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13" name="Google Shape;713;p25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14" name="Google Shape;714;p25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15" name="Google Shape;715;p25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16" name="Google Shape;716;p25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17" name="Google Shape;717;p25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718" name="Google Shape;718;p25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9" name="Google Shape;719;p25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0" name="Google Shape;720;p25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1" name="Google Shape;721;p25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2" name="Google Shape;722;p25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3" name="Google Shape;723;p25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724" name="Google Shape;724;p25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25" name="Google Shape;725;p25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726" name="Google Shape;726;p25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727" name="Google Shape;727;p25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728" name="Google Shape;728;p2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9" name="Google Shape;729;p2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0" name="Google Shape;730;p2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31" name="Google Shape;731;p25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732" name="Google Shape;732;p2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3" name="Google Shape;733;p2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4" name="Google Shape;734;p2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35" name="Google Shape;735;p25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736" name="Google Shape;736;p2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7" name="Google Shape;737;p2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8" name="Google Shape;738;p2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39" name="Google Shape;739;p25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740" name="Google Shape;740;p2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1" name="Google Shape;741;p2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742" name="Google Shape;742;p25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743" name="Google Shape;743;p25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4" name="Google Shape;744;p25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45" name="Google Shape;745;p25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6" name="Google Shape;746;p25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7" name="Google Shape;747;p25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8" name="Google Shape;748;p25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9" name="Google Shape;749;p25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6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2" name="Google Shape;752;p26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753" name="Google Shape;753;p26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754" name="Google Shape;754;p26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55" name="Google Shape;755;p2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56" name="Google Shape;756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7" name="Google Shape;757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58" name="Google Shape;758;p2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59" name="Google Shape;759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0" name="Google Shape;760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61" name="Google Shape;761;p2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62" name="Google Shape;762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3" name="Google Shape;763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64" name="Google Shape;764;p26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765" name="Google Shape;765;p2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66" name="Google Shape;766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7" name="Google Shape;767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68" name="Google Shape;768;p2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69" name="Google Shape;769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0" name="Google Shape;770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71" name="Google Shape;771;p2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72" name="Google Shape;772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3" name="Google Shape;773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74" name="Google Shape;774;p26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775" name="Google Shape;775;p2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76" name="Google Shape;776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7" name="Google Shape;777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78" name="Google Shape;778;p2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79" name="Google Shape;779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0" name="Google Shape;780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81" name="Google Shape;781;p2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82" name="Google Shape;782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3" name="Google Shape;783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84" name="Google Shape;784;p26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785" name="Google Shape;785;p2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86" name="Google Shape;786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7" name="Google Shape;787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88" name="Google Shape;788;p2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89" name="Google Shape;789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0" name="Google Shape;790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791" name="Google Shape;791;p26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792" name="Google Shape;792;p26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93" name="Google Shape;793;p2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94" name="Google Shape;794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5" name="Google Shape;795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96" name="Google Shape;796;p2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97" name="Google Shape;797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8" name="Google Shape;798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99" name="Google Shape;799;p2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800" name="Google Shape;800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1" name="Google Shape;801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02" name="Google Shape;802;p26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803" name="Google Shape;803;p2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04" name="Google Shape;804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5" name="Google Shape;805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06" name="Google Shape;806;p2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07" name="Google Shape;807;p2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8" name="Google Shape;808;p2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809" name="Google Shape;809;p26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810" name="Google Shape;810;p26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26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2" name="Google Shape;812;p26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813" name="Google Shape;813;p26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4" name="Google Shape;814;p26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815" name="Google Shape;815;p26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6" name="Google Shape;816;p26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817" name="Google Shape;817;p26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8" name="Google Shape;818;p26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27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1" name="Google Shape;821;p27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2" name="Google Shape;822;p27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23" name="Google Shape;823;p27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824" name="Google Shape;824;p27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825" name="Google Shape;825;p27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6" name="Google Shape;826;p27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27" name="Google Shape;827;p27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828" name="Google Shape;828;p27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9" name="Google Shape;829;p27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0" name="Google Shape;830;p27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1" name="Google Shape;831;p27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2" name="Google Shape;832;p27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3" name="Google Shape;833;p27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4" name="Google Shape;834;p27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5" name="Google Shape;835;p27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6" name="Google Shape;836;p27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7" name="Google Shape;837;p27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8" name="Google Shape;838;p27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9" name="Google Shape;839;p27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0" name="Google Shape;840;p27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1" name="Google Shape;841;p27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2" name="Google Shape;842;p27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43" name="Google Shape;843;p27"/>
          <p:cNvGrpSpPr/>
          <p:nvPr/>
        </p:nvGrpSpPr>
        <p:grpSpPr>
          <a:xfrm>
            <a:off x="4222205" y="390105"/>
            <a:ext cx="366114" cy="4334807"/>
            <a:chOff x="3473077" y="259175"/>
            <a:chExt cx="366114" cy="4334807"/>
          </a:xfrm>
        </p:grpSpPr>
        <p:grpSp>
          <p:nvGrpSpPr>
            <p:cNvPr id="844" name="Google Shape;844;p27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845" name="Google Shape;845;p27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46" name="Google Shape;846;p27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7" name="Google Shape;847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8" name="Google Shape;848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49" name="Google Shape;849;p27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0" name="Google Shape;850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1" name="Google Shape;851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52" name="Google Shape;852;p27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3" name="Google Shape;853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4" name="Google Shape;854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55" name="Google Shape;855;p27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56" name="Google Shape;856;p27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7" name="Google Shape;857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8" name="Google Shape;858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59" name="Google Shape;859;p27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0" name="Google Shape;860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1" name="Google Shape;861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62" name="Google Shape;862;p27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3" name="Google Shape;863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4" name="Google Shape;864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65" name="Google Shape;865;p27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66" name="Google Shape;866;p27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7" name="Google Shape;867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8" name="Google Shape;868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69" name="Google Shape;869;p27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70" name="Google Shape;870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71" name="Google Shape;871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72" name="Google Shape;872;p27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73" name="Google Shape;873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74" name="Google Shape;874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75" name="Google Shape;875;p27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76" name="Google Shape;876;p27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77" name="Google Shape;877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78" name="Google Shape;878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79" name="Google Shape;879;p27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80" name="Google Shape;880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81" name="Google Shape;881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882" name="Google Shape;882;p27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883" name="Google Shape;883;p27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84" name="Google Shape;884;p27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85" name="Google Shape;885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86" name="Google Shape;886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87" name="Google Shape;887;p27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88" name="Google Shape;888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89" name="Google Shape;889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90" name="Google Shape;890;p27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91" name="Google Shape;891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92" name="Google Shape;892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93" name="Google Shape;893;p27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94" name="Google Shape;894;p27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95" name="Google Shape;895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96" name="Google Shape;896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97" name="Google Shape;897;p27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98" name="Google Shape;898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99" name="Google Shape;899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00" name="Google Shape;900;p27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01" name="Google Shape;901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02" name="Google Shape;902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903" name="Google Shape;903;p27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904" name="Google Shape;904;p27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05" name="Google Shape;905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06" name="Google Shape;906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07" name="Google Shape;907;p27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08" name="Google Shape;908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09" name="Google Shape;909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10" name="Google Shape;910;p27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11" name="Google Shape;911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12" name="Google Shape;912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913" name="Google Shape;913;p27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914" name="Google Shape;914;p27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15" name="Google Shape;915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16" name="Google Shape;916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917" name="Google Shape;917;p27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918" name="Google Shape;918;p27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919" name="Google Shape;919;p27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920" name="Google Shape;920;p27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21" name="Google Shape;921;p27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2" name="Google Shape;922;p27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923" name="Google Shape;923;p27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24" name="Google Shape;924;p27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925" name="Google Shape;925;p27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26" name="Google Shape;926;p27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927" name="Google Shape;927;p27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28" name="Google Shape;928;p27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929" name="Google Shape;929;p27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30" name="Google Shape;930;p27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8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3" name="Google Shape;933;p28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4" name="Google Shape;934;p28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5" name="Google Shape;935;p28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936" name="Google Shape;936;p28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7" name="Google Shape;937;p28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8" name="Google Shape;938;p28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9" name="Google Shape;939;p28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0" name="Google Shape;940;p28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1" name="Google Shape;941;p28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274300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2" name="Google Shape;942;p28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45" name="Google Shape;945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0" name="Google Shape;95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5" name="Google Shape;955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0" name="Google Shape;960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61" name="Google Shape;961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3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966" name="Google Shape;966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9" name="Google Shape;969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0" name="Google Shape;970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1" name="Google Shape;971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5" name="Google Shape;975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6" name="Google Shape;976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7" name="Google Shape;977;p3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3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9" name="Google Shape;979;p3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0" name="Google Shape;980;p3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3" name="Google Shape;983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6" name="Google Shape;986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7" name="Google Shape;987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8" name="Google Shape;988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9" name="Google Shape;98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0" name="Google Shape;990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1" name="Google Shape;991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4" name="Google Shape;994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5" name="Google Shape;995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6" name="Google Shape;996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7" name="Google Shape;997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98" name="Google Shape;998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99" name="Google Shape;99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0" name="Google Shape;1000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1" name="Google Shape;1001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2" name="Google Shape;1002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7" name="Google Shape;1007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8" name="Google Shape;1008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0" name="Google Shape;1010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1" name="Google Shape;1011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2" name="Google Shape;1012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3" name="Google Shape;1013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5" name="Google Shape;1015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2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b="0" i="0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b="0" i="0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b="0" i="0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b="0" i="0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b="0" i="0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b="0" i="0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b="0" i="0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b="0" i="0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b="0" i="0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LRMYvmF60qVkY0kzI1CUgE5Fpd_4I-Fb/view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5"/>
          <p:cNvSpPr txBox="1"/>
          <p:nvPr/>
        </p:nvSpPr>
        <p:spPr>
          <a:xfrm>
            <a:off x="25325" y="4295075"/>
            <a:ext cx="38742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Guided </a:t>
            </a:r>
            <a:r>
              <a:rPr i="0" lang="en" sz="14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By- </a:t>
            </a:r>
            <a:r>
              <a:rPr lang="en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Prof. Vikas Gupta</a:t>
            </a:r>
            <a:endParaRPr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Dept. Of Electronics Engg.</a:t>
            </a:r>
            <a:endParaRPr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21" name="Google Shape;1021;p45"/>
          <p:cNvSpPr txBox="1"/>
          <p:nvPr/>
        </p:nvSpPr>
        <p:spPr>
          <a:xfrm>
            <a:off x="4292625" y="4367250"/>
            <a:ext cx="47976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By- </a:t>
            </a:r>
            <a:r>
              <a:rPr lang="en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rPr>
              <a:t>Krushna Raut(37), Sankalp Choubey(49), Vikram Jaiswal(53)</a:t>
            </a:r>
            <a:endParaRPr i="0" sz="1400" u="none" cap="none" strike="noStrike">
              <a:solidFill>
                <a:schemeClr val="lt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22" name="Google Shape;1022;p45"/>
          <p:cNvSpPr txBox="1"/>
          <p:nvPr>
            <p:ph type="title"/>
          </p:nvPr>
        </p:nvSpPr>
        <p:spPr>
          <a:xfrm>
            <a:off x="557850" y="1104225"/>
            <a:ext cx="84441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3600"/>
              <a:t>SecureGate: Automated Unregistered Vehicle</a:t>
            </a:r>
            <a:endParaRPr b="0" sz="36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3600"/>
              <a:t>Flagging Using License Plate Detection</a:t>
            </a:r>
            <a:endParaRPr b="0" sz="5200"/>
          </a:p>
        </p:txBody>
      </p:sp>
      <p:pic>
        <p:nvPicPr>
          <p:cNvPr id="1023" name="Google Shape;102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089425" cy="100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6"/>
          <p:cNvSpPr txBox="1"/>
          <p:nvPr>
            <p:ph idx="1" type="body"/>
          </p:nvPr>
        </p:nvSpPr>
        <p:spPr>
          <a:xfrm>
            <a:off x="1140025" y="1256275"/>
            <a:ext cx="4479300" cy="4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z="1800">
                <a:solidFill>
                  <a:schemeClr val="accent4"/>
                </a:solidFill>
              </a:rPr>
              <a:t>01.  Problem Statement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02. Dataset Overview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03. Methodology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04. Experiments &amp; Hyperparameters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05.Results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06.Challenges &amp; Learnings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07. Conclusion &amp; Future Work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1029" name="Google Shape;1029;p46"/>
          <p:cNvSpPr txBox="1"/>
          <p:nvPr>
            <p:ph type="title"/>
          </p:nvPr>
        </p:nvSpPr>
        <p:spPr>
          <a:xfrm rot="-289081">
            <a:off x="558871" y="172397"/>
            <a:ext cx="2100221" cy="5696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CONTENTS</a:t>
            </a:r>
            <a:endParaRPr/>
          </a:p>
        </p:txBody>
      </p:sp>
      <p:pic>
        <p:nvPicPr>
          <p:cNvPr id="1030" name="Google Shape;1030;p46" title="analyze-data-financial-research-analytics-data-analysis-chart-and-graph-or-diagram-database-report-or-predictive-visualization-concept-businessman-with-magnifying-glass-analyzing-pie-chart-data-vector-Photoroo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649" y="514925"/>
            <a:ext cx="5651126" cy="376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47"/>
          <p:cNvSpPr txBox="1"/>
          <p:nvPr/>
        </p:nvSpPr>
        <p:spPr>
          <a:xfrm>
            <a:off x="5914925" y="207225"/>
            <a:ext cx="526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0" i="1" sz="7200" u="none" cap="none" strike="noStrike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36" name="Google Shape;1036;p47"/>
          <p:cNvSpPr txBox="1"/>
          <p:nvPr>
            <p:ph type="title"/>
          </p:nvPr>
        </p:nvSpPr>
        <p:spPr>
          <a:xfrm>
            <a:off x="364575" y="289450"/>
            <a:ext cx="34776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Problem 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37" name="Google Shape;1037;p47"/>
          <p:cNvSpPr txBox="1"/>
          <p:nvPr>
            <p:ph idx="1" type="body"/>
          </p:nvPr>
        </p:nvSpPr>
        <p:spPr>
          <a:xfrm>
            <a:off x="364575" y="896000"/>
            <a:ext cx="51447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Manual vehicle verification is inefficient, slow, and error-prone. Unregistered vehicles pose security risks, revenue loss, and enforcement challenges in parking areas, campuses, and toll systems.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/>
          </a:p>
        </p:txBody>
      </p:sp>
      <p:sp>
        <p:nvSpPr>
          <p:cNvPr id="1038" name="Google Shape;1038;p47"/>
          <p:cNvSpPr txBox="1"/>
          <p:nvPr>
            <p:ph type="title"/>
          </p:nvPr>
        </p:nvSpPr>
        <p:spPr>
          <a:xfrm>
            <a:off x="364575" y="2259600"/>
            <a:ext cx="34776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Problem Objectives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39" name="Google Shape;1039;p47"/>
          <p:cNvSpPr txBox="1"/>
          <p:nvPr>
            <p:ph idx="1" type="body"/>
          </p:nvPr>
        </p:nvSpPr>
        <p:spPr>
          <a:xfrm>
            <a:off x="582025" y="2874825"/>
            <a:ext cx="56025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Char char="●"/>
            </a:pPr>
            <a:r>
              <a:rPr lang="en" sz="1500">
                <a:solidFill>
                  <a:srgbClr val="2C3E50"/>
                </a:solidFill>
              </a:rPr>
              <a:t>Detect license plates from vehicle images using YOLOv8</a:t>
            </a:r>
            <a:endParaRPr sz="1500">
              <a:solidFill>
                <a:srgbClr val="2C3E5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Char char="●"/>
            </a:pPr>
            <a:r>
              <a:rPr lang="en" sz="1500">
                <a:solidFill>
                  <a:srgbClr val="2C3E50"/>
                </a:solidFill>
              </a:rPr>
              <a:t>Extract plate numbers using multi-engine OCR (Kimi Vision, EasyOCR, Tesseract)</a:t>
            </a:r>
            <a:endParaRPr sz="1500">
              <a:solidFill>
                <a:srgbClr val="2C3E5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Char char="●"/>
            </a:pPr>
            <a:r>
              <a:rPr lang="en" sz="1500">
                <a:solidFill>
                  <a:srgbClr val="2C3E50"/>
                </a:solidFill>
              </a:rPr>
              <a:t>Validate and clean extracted text to match Indian plate format</a:t>
            </a:r>
            <a:endParaRPr sz="1500">
              <a:solidFill>
                <a:srgbClr val="2C3E5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Char char="●"/>
            </a:pPr>
            <a:r>
              <a:rPr lang="en" sz="1500">
                <a:solidFill>
                  <a:srgbClr val="2C3E50"/>
                </a:solidFill>
              </a:rPr>
              <a:t>Compare with registered vehicle database (SQLite)</a:t>
            </a:r>
            <a:endParaRPr sz="1500">
              <a:solidFill>
                <a:srgbClr val="2C3E5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Char char="●"/>
            </a:pPr>
            <a:r>
              <a:rPr lang="en" sz="1500">
                <a:solidFill>
                  <a:srgbClr val="2C3E50"/>
                </a:solidFill>
              </a:rPr>
              <a:t>Flag unregistered vehicles via web dashboard with alerts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/>
          </a:p>
        </p:txBody>
      </p:sp>
      <p:pic>
        <p:nvPicPr>
          <p:cNvPr id="1040" name="Google Shape;104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4525" y="79050"/>
            <a:ext cx="2911475" cy="29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8"/>
          <p:cNvSpPr txBox="1"/>
          <p:nvPr>
            <p:ph type="title"/>
          </p:nvPr>
        </p:nvSpPr>
        <p:spPr>
          <a:xfrm>
            <a:off x="228600" y="156750"/>
            <a:ext cx="47859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1046" name="Google Shape;1046;p48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chemeClr val="dk1"/>
                </a:solidFill>
              </a:rPr>
              <a:t>Links to resources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047" name="Google Shape;1047;p48"/>
          <p:cNvGraphicFramePr/>
          <p:nvPr/>
        </p:nvGraphicFramePr>
        <p:xfrm>
          <a:off x="937075" y="1801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{956C2F9D-9DF6-4D49-AF99-695BBA945485}</a:tableStyleId>
              </a:tblPr>
              <a:tblGrid>
                <a:gridCol w="1931100"/>
                <a:gridCol w="5091900"/>
              </a:tblGrid>
              <a:tr h="45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" sz="19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Attribute</a:t>
                      </a:r>
                      <a:endParaRPr b="1" sz="19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" sz="1900" u="none" cap="none" strike="noStrik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Descripition</a:t>
                      </a:r>
                      <a:endParaRPr b="1" sz="19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Height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Image height (pixels) </a:t>
                      </a:r>
                      <a:endParaRPr sz="15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Width</a:t>
                      </a:r>
                      <a:endParaRPr sz="15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Image width (pixels) </a:t>
                      </a:r>
                      <a:endParaRPr sz="15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Format</a:t>
                      </a:r>
                      <a:endParaRPr sz="15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Image format (JPEG/PNG) </a:t>
                      </a:r>
                      <a:endParaRPr sz="15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Mode</a:t>
                      </a:r>
                      <a:endParaRPr sz="15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Color mode (RGB/RGBA) </a:t>
                      </a:r>
                      <a:endParaRPr sz="15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/>
                </a:tc>
              </a:tr>
              <a:tr h="41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Size_bytes</a:t>
                      </a:r>
                      <a:endParaRPr sz="15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File size in bytes </a:t>
                      </a:r>
                      <a:endParaRPr sz="1500" u="none" cap="none" strike="noStrik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48" name="Google Shape;1048;p48"/>
          <p:cNvSpPr txBox="1"/>
          <p:nvPr/>
        </p:nvSpPr>
        <p:spPr>
          <a:xfrm>
            <a:off x="133675" y="808625"/>
            <a:ext cx="8629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Dataset Name: </a:t>
            </a: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Indian vehicle license plate dataset (2022)</a:t>
            </a:r>
            <a:endParaRPr i="0" sz="15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Source: </a:t>
            </a:r>
            <a:r>
              <a:rPr i="0" lang="en" sz="150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Kaggle</a:t>
            </a:r>
            <a:endParaRPr i="0" sz="15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i="0" sz="15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3" name="Google Shape;1053;p49"/>
          <p:cNvGrpSpPr/>
          <p:nvPr/>
        </p:nvGrpSpPr>
        <p:grpSpPr>
          <a:xfrm>
            <a:off x="533149" y="1677325"/>
            <a:ext cx="5242456" cy="1390207"/>
            <a:chOff x="141387" y="1688875"/>
            <a:chExt cx="5242456" cy="1390207"/>
          </a:xfrm>
        </p:grpSpPr>
        <p:sp>
          <p:nvSpPr>
            <p:cNvPr id="1054" name="Google Shape;1054;p49"/>
            <p:cNvSpPr/>
            <p:nvPr/>
          </p:nvSpPr>
          <p:spPr>
            <a:xfrm rot="607">
              <a:off x="141387" y="2713525"/>
              <a:ext cx="1699200" cy="365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" sz="1200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Image Acquisition </a:t>
              </a:r>
              <a:endParaRPr b="1" i="0" sz="12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55" name="Google Shape;1055;p49"/>
            <p:cNvSpPr/>
            <p:nvPr/>
          </p:nvSpPr>
          <p:spPr>
            <a:xfrm>
              <a:off x="1998238" y="1688875"/>
              <a:ext cx="1588200" cy="42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" sz="1100">
                  <a:latin typeface="Manrope"/>
                  <a:ea typeface="Manrope"/>
                  <a:cs typeface="Manrope"/>
                  <a:sym typeface="Manrope"/>
                </a:rPr>
                <a:t>Plate Detection (YOLOv8) </a:t>
              </a:r>
              <a:endParaRPr b="1" i="0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56" name="Google Shape;1056;p49"/>
            <p:cNvSpPr/>
            <p:nvPr/>
          </p:nvSpPr>
          <p:spPr>
            <a:xfrm rot="-1299">
              <a:off x="3795943" y="2713682"/>
              <a:ext cx="1587900" cy="365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n" sz="1100">
                  <a:latin typeface="Manrope"/>
                  <a:ea typeface="Manrope"/>
                  <a:cs typeface="Manrope"/>
                  <a:sym typeface="Manrope"/>
                </a:rPr>
                <a:t>Preprocessing Pipeline </a:t>
              </a:r>
              <a:endParaRPr b="1" i="0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1057" name="Google Shape;1057;p49"/>
          <p:cNvGrpSpPr/>
          <p:nvPr/>
        </p:nvGrpSpPr>
        <p:grpSpPr>
          <a:xfrm>
            <a:off x="508872" y="2254396"/>
            <a:ext cx="8309700" cy="142963"/>
            <a:chOff x="508872" y="2254396"/>
            <a:chExt cx="8309700" cy="142963"/>
          </a:xfrm>
        </p:grpSpPr>
        <p:cxnSp>
          <p:nvCxnSpPr>
            <p:cNvPr id="1058" name="Google Shape;1058;p49"/>
            <p:cNvCxnSpPr/>
            <p:nvPr/>
          </p:nvCxnSpPr>
          <p:spPr>
            <a:xfrm>
              <a:off x="508872" y="2333749"/>
              <a:ext cx="83097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059" name="Google Shape;1059;p49"/>
            <p:cNvSpPr/>
            <p:nvPr/>
          </p:nvSpPr>
          <p:spPr>
            <a:xfrm>
              <a:off x="1317371" y="2270158"/>
              <a:ext cx="127200" cy="12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60" name="Google Shape;1060;p49"/>
            <p:cNvSpPr/>
            <p:nvPr/>
          </p:nvSpPr>
          <p:spPr>
            <a:xfrm>
              <a:off x="2936684" y="2266108"/>
              <a:ext cx="127200" cy="127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1061" name="Google Shape;1061;p49"/>
            <p:cNvSpPr/>
            <p:nvPr/>
          </p:nvSpPr>
          <p:spPr>
            <a:xfrm>
              <a:off x="4824496" y="2254396"/>
              <a:ext cx="127200" cy="127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062" name="Google Shape;1062;p49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3100"/>
              <a:t>Methodology</a:t>
            </a:r>
            <a:endParaRPr sz="3100"/>
          </a:p>
        </p:txBody>
      </p:sp>
      <p:sp>
        <p:nvSpPr>
          <p:cNvPr id="1063" name="Google Shape;1063;p49"/>
          <p:cNvSpPr txBox="1"/>
          <p:nvPr>
            <p:ph idx="2" type="subTitle"/>
          </p:nvPr>
        </p:nvSpPr>
        <p:spPr>
          <a:xfrm>
            <a:off x="978575" y="1712625"/>
            <a:ext cx="78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Phase 1 </a:t>
            </a:r>
            <a:endParaRPr/>
          </a:p>
        </p:txBody>
      </p:sp>
      <p:sp>
        <p:nvSpPr>
          <p:cNvPr id="1064" name="Google Shape;1064;p49"/>
          <p:cNvSpPr txBox="1"/>
          <p:nvPr>
            <p:ph idx="3" type="subTitle"/>
          </p:nvPr>
        </p:nvSpPr>
        <p:spPr>
          <a:xfrm>
            <a:off x="2670713" y="2617700"/>
            <a:ext cx="78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1065" name="Google Shape;1065;p49"/>
          <p:cNvSpPr txBox="1"/>
          <p:nvPr>
            <p:ph idx="4" type="subTitle"/>
          </p:nvPr>
        </p:nvSpPr>
        <p:spPr>
          <a:xfrm>
            <a:off x="4524375" y="1684100"/>
            <a:ext cx="78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Phase 3</a:t>
            </a:r>
            <a:endParaRPr/>
          </a:p>
        </p:txBody>
      </p:sp>
      <p:sp>
        <p:nvSpPr>
          <p:cNvPr id="1066" name="Google Shape;1066;p49"/>
          <p:cNvSpPr/>
          <p:nvPr/>
        </p:nvSpPr>
        <p:spPr>
          <a:xfrm>
            <a:off x="6518946" y="2262271"/>
            <a:ext cx="127200" cy="127200"/>
          </a:xfrm>
          <a:prstGeom prst="ellipse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67" name="Google Shape;1067;p49"/>
          <p:cNvSpPr txBox="1"/>
          <p:nvPr>
            <p:ph idx="2" type="subTitle"/>
          </p:nvPr>
        </p:nvSpPr>
        <p:spPr>
          <a:xfrm>
            <a:off x="6146800" y="2617700"/>
            <a:ext cx="78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Phase 4</a:t>
            </a:r>
            <a:endParaRPr/>
          </a:p>
        </p:txBody>
      </p:sp>
      <p:sp>
        <p:nvSpPr>
          <p:cNvPr id="1068" name="Google Shape;1068;p49"/>
          <p:cNvSpPr/>
          <p:nvPr/>
        </p:nvSpPr>
        <p:spPr>
          <a:xfrm rot="-1247">
            <a:off x="5755759" y="1668641"/>
            <a:ext cx="1653600" cy="3651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100">
                <a:latin typeface="Manrope"/>
                <a:ea typeface="Manrope"/>
                <a:cs typeface="Manrope"/>
                <a:sym typeface="Manrope"/>
              </a:rPr>
              <a:t>OCR &amp; Validation </a:t>
            </a:r>
            <a:endParaRPr b="1" i="0" sz="12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69" name="Google Shape;1069;p49"/>
          <p:cNvSpPr/>
          <p:nvPr/>
        </p:nvSpPr>
        <p:spPr>
          <a:xfrm>
            <a:off x="8094796" y="2262271"/>
            <a:ext cx="127200" cy="1272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0" name="Google Shape;1070;p49"/>
          <p:cNvSpPr/>
          <p:nvPr/>
        </p:nvSpPr>
        <p:spPr>
          <a:xfrm rot="-1247">
            <a:off x="7261809" y="2685378"/>
            <a:ext cx="1653600" cy="3651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100">
                <a:latin typeface="Manrope"/>
                <a:ea typeface="Manrope"/>
                <a:cs typeface="Manrope"/>
                <a:sym typeface="Manrope"/>
              </a:rPr>
              <a:t>Database &amp; Output </a:t>
            </a:r>
            <a:endParaRPr b="1" i="0" sz="12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1" name="Google Shape;1071;p49"/>
          <p:cNvSpPr txBox="1"/>
          <p:nvPr>
            <p:ph idx="2" type="subTitle"/>
          </p:nvPr>
        </p:nvSpPr>
        <p:spPr>
          <a:xfrm>
            <a:off x="7765250" y="1684100"/>
            <a:ext cx="78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Phase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50"/>
          <p:cNvSpPr txBox="1"/>
          <p:nvPr>
            <p:ph type="title"/>
          </p:nvPr>
        </p:nvSpPr>
        <p:spPr>
          <a:xfrm>
            <a:off x="164813" y="457200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/>
              <a:t>Experiments </a:t>
            </a:r>
            <a:endParaRPr b="0"/>
          </a:p>
        </p:txBody>
      </p:sp>
      <p:sp>
        <p:nvSpPr>
          <p:cNvPr id="1077" name="Google Shape;1077;p50"/>
          <p:cNvSpPr txBox="1"/>
          <p:nvPr>
            <p:ph idx="4294967295" type="body"/>
          </p:nvPr>
        </p:nvSpPr>
        <p:spPr>
          <a:xfrm>
            <a:off x="224088" y="1408475"/>
            <a:ext cx="54660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• Model: YOLOv8 (custom trained)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• Dataset: Indian License Plate Dataset (Kaggle)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• Task: License Plate Detection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• Train/Test Split: 80% / 20%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1078" name="Google Shape;1078;p50"/>
          <p:cNvSpPr txBox="1"/>
          <p:nvPr>
            <p:ph idx="4294967295" type="body"/>
          </p:nvPr>
        </p:nvSpPr>
        <p:spPr>
          <a:xfrm>
            <a:off x="4463700" y="1284050"/>
            <a:ext cx="5466000" cy="30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Epochs: 50 (or your actual value)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Image Size: 640 × 640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Batch Size: 16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Optimizer: AdamW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Learning Rate: 0.001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LR Scheduler: Cosine Decay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1079" name="Google Shape;1079;p50"/>
          <p:cNvSpPr txBox="1"/>
          <p:nvPr>
            <p:ph type="title"/>
          </p:nvPr>
        </p:nvSpPr>
        <p:spPr>
          <a:xfrm>
            <a:off x="4524375" y="457200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/>
              <a:t>Hyperparameters</a:t>
            </a:r>
            <a:endParaRPr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51"/>
          <p:cNvSpPr txBox="1"/>
          <p:nvPr>
            <p:ph type="title"/>
          </p:nvPr>
        </p:nvSpPr>
        <p:spPr>
          <a:xfrm>
            <a:off x="113875" y="1026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/>
              <a:t>Results </a:t>
            </a:r>
            <a:r>
              <a:rPr b="0" lang="en"/>
              <a:t>&amp; Outputs</a:t>
            </a:r>
            <a:endParaRPr b="0"/>
          </a:p>
        </p:txBody>
      </p:sp>
      <p:pic>
        <p:nvPicPr>
          <p:cNvPr id="1085" name="Google Shape;108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85" y="657525"/>
            <a:ext cx="5389446" cy="2882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2488" y="3712476"/>
            <a:ext cx="5392925" cy="13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52"/>
          <p:cNvSpPr txBox="1"/>
          <p:nvPr>
            <p:ph type="title"/>
          </p:nvPr>
        </p:nvSpPr>
        <p:spPr>
          <a:xfrm>
            <a:off x="113875" y="1026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/>
              <a:t>Results &amp; Outputs</a:t>
            </a:r>
            <a:endParaRPr b="0"/>
          </a:p>
        </p:txBody>
      </p:sp>
      <p:pic>
        <p:nvPicPr>
          <p:cNvPr id="1092" name="Google Shape;109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3700" y="1134313"/>
            <a:ext cx="5850774" cy="317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52"/>
          <p:cNvSpPr txBox="1"/>
          <p:nvPr>
            <p:ph type="title"/>
          </p:nvPr>
        </p:nvSpPr>
        <p:spPr>
          <a:xfrm>
            <a:off x="4349350" y="157050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/>
              <a:t>Registered Vehicles</a:t>
            </a:r>
            <a:endParaRPr b="0"/>
          </a:p>
        </p:txBody>
      </p:sp>
      <p:pic>
        <p:nvPicPr>
          <p:cNvPr id="1094" name="Google Shape;109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375" y="775950"/>
            <a:ext cx="2053753" cy="413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53"/>
          <p:cNvSpPr txBox="1"/>
          <p:nvPr>
            <p:ph type="title"/>
          </p:nvPr>
        </p:nvSpPr>
        <p:spPr>
          <a:xfrm>
            <a:off x="113875" y="102625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/>
              <a:t>Results &amp; 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/>
              <a:t>Outputs</a:t>
            </a:r>
            <a:endParaRPr b="0"/>
          </a:p>
        </p:txBody>
      </p:sp>
      <p:pic>
        <p:nvPicPr>
          <p:cNvPr id="1100" name="Google Shape;1100;p53" title="testing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0"/>
            <a:ext cx="6858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54"/>
          <p:cNvSpPr txBox="1"/>
          <p:nvPr>
            <p:ph idx="1" type="body"/>
          </p:nvPr>
        </p:nvSpPr>
        <p:spPr>
          <a:xfrm>
            <a:off x="219275" y="1287250"/>
            <a:ext cx="4409700" cy="30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Challenges: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Poor image quality (blur, low resolution) 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Uneven lighting conditions 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Similar character confusion (0/O, 1/I) 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Lack of labeled dataset 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</p:txBody>
      </p:sp>
      <p:sp>
        <p:nvSpPr>
          <p:cNvPr id="1106" name="Google Shape;1106;p54"/>
          <p:cNvSpPr txBox="1"/>
          <p:nvPr>
            <p:ph type="title"/>
          </p:nvPr>
        </p:nvSpPr>
        <p:spPr>
          <a:xfrm>
            <a:off x="311700" y="41597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/>
              <a:t>Challenges &amp; Learnings</a:t>
            </a:r>
            <a:endParaRPr b="0"/>
          </a:p>
        </p:txBody>
      </p:sp>
      <p:sp>
        <p:nvSpPr>
          <p:cNvPr id="1107" name="Google Shape;1107;p54"/>
          <p:cNvSpPr txBox="1"/>
          <p:nvPr>
            <p:ph idx="1" type="body"/>
          </p:nvPr>
        </p:nvSpPr>
        <p:spPr>
          <a:xfrm>
            <a:off x="4503925" y="1213550"/>
            <a:ext cx="44097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Learnings: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Preprocessing is critical for OCR performance 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YOLOv8 provides efficient real-time detection 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Thresholding techniques impact accuracy significantly 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• Data quality matters more than model complexity  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55"/>
          <p:cNvSpPr txBox="1"/>
          <p:nvPr>
            <p:ph idx="1" type="body"/>
          </p:nvPr>
        </p:nvSpPr>
        <p:spPr>
          <a:xfrm>
            <a:off x="474300" y="1710800"/>
            <a:ext cx="7138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• Improve OCR accuracy using custom-trained models  </a:t>
            </a:r>
            <a:endParaRPr sz="16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• Deploy on edge devices (CCTV systems)  </a:t>
            </a:r>
            <a:endParaRPr sz="16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• Add multi-National plate recognition (Currently India based)</a:t>
            </a:r>
            <a:endParaRPr sz="16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• Integrate with real-time surveillance systems  </a:t>
            </a:r>
            <a:endParaRPr sz="16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• Expand dataset with labeled annotations  </a:t>
            </a:r>
            <a:endParaRPr sz="16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13" name="Google Shape;1113;p55"/>
          <p:cNvSpPr txBox="1"/>
          <p:nvPr>
            <p:ph type="title"/>
          </p:nvPr>
        </p:nvSpPr>
        <p:spPr>
          <a:xfrm>
            <a:off x="474300" y="695000"/>
            <a:ext cx="6149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Future Work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56"/>
          <p:cNvSpPr txBox="1"/>
          <p:nvPr>
            <p:ph idx="1" type="body"/>
          </p:nvPr>
        </p:nvSpPr>
        <p:spPr>
          <a:xfrm>
            <a:off x="-279475" y="2223375"/>
            <a:ext cx="5407200" cy="2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• Developed an automated license plate recognition system  </a:t>
            </a:r>
            <a:endParaRPr sz="19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• Integrated detection, OCR, and database validation  </a:t>
            </a:r>
            <a:endParaRPr sz="19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• Achieved reliable performance in real-time scenarios  </a:t>
            </a:r>
            <a:endParaRPr sz="19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19" name="Google Shape;1119;p56"/>
          <p:cNvSpPr txBox="1"/>
          <p:nvPr>
            <p:ph type="title"/>
          </p:nvPr>
        </p:nvSpPr>
        <p:spPr>
          <a:xfrm>
            <a:off x="474300" y="695000"/>
            <a:ext cx="6149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CONCLUSION</a:t>
            </a:r>
            <a:endParaRPr/>
          </a:p>
        </p:txBody>
      </p:sp>
      <p:pic>
        <p:nvPicPr>
          <p:cNvPr id="1120" name="Google Shape;112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726" y="457200"/>
            <a:ext cx="4161624" cy="222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57"/>
          <p:cNvSpPr txBox="1"/>
          <p:nvPr>
            <p:ph type="title"/>
          </p:nvPr>
        </p:nvSpPr>
        <p:spPr>
          <a:xfrm>
            <a:off x="1500325" y="1747200"/>
            <a:ext cx="7125900" cy="18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